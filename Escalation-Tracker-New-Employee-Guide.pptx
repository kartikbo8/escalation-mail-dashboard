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21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6BB9-C3D0-31A7-FC4A-87814A010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529E-120D-2F02-DC1C-C06AC15B7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CF119-A2F6-4826-E37D-C09C275D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30327-7FBC-F9FF-C329-195BFB15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7C8E4-B72A-E4B2-62C3-02D58FC0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93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D336-58DB-8B7A-C597-8CEF51CA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CFF87-9661-B6A4-5850-DC01C32C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141E5-3FF8-100B-848A-9FC377A1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7BF63-E10C-3C42-9A1D-8A8AB7229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ECED5-3C11-20AA-EFD6-CE5E18D0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24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2F3E-F773-52F4-AB75-7F32C31B7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53422-320E-58DD-8F97-DAF4084C4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CB4B3-E0B3-0A47-2EFB-BF05490D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03624-B695-ED98-FDC5-C98FE868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03CB3-0B0E-5826-0EEB-A8A357B1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4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8C5B-1DD3-193F-0015-518C2B386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AB437-1FC7-3014-0541-B27B17AC2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F47F9-2323-F6F1-8175-1813DE7F8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11C6F-9AF1-18DA-59DC-279ABF6B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48821-59EC-5D91-A9B9-900F94E9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6201-1992-C2B6-40A8-9508BB53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2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18AB-91D5-E674-B762-4FFD131D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4E5BF-C4B6-4D81-68FF-D23FC8FBF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1EA01-9E2D-C60F-7DF8-3DCFC93DF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DE527-7349-1DD9-87CE-BC771A853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9662C-9D26-8B99-CED5-9DCA52C05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73BD8-DD98-6E8A-E8FB-705DEC0C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A024A-EC84-9647-7B13-54D968D0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1A3F9-74D8-6F29-1DAA-A52BFF42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10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F852-5929-15F3-AA09-C0DEBBBB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749557-4B69-409C-947E-DF736055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1D0F7-6008-B3D9-150A-4B0502EC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CC3EB-3F3B-7056-C35A-A1DE751C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27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16DBEA-D19E-EF23-5DA1-D84F87F0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6F2D1-09CF-9498-AF05-12FDB3AAF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D9375-5B29-324E-3E4D-941D760B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19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D71C-EC2C-9314-61AD-F0A2EA4F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AE9A6-6ADB-81C6-0A41-A08393343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40303-AE8C-1B6D-9BCD-73BAC3173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6358B-3D20-C998-EF24-90FF0540C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CEBE6-165D-0E6D-7B6D-255302F3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974FF-7E67-522B-1C89-DA281AFD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90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BE4C-327C-4A41-DC40-91D9FFBF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540A5-ADA3-69F0-5BCB-CB53CC03B34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5D827-64AE-BA57-FB37-C642E3CE2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C231B-D057-DA7E-01F7-D564DAA4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445EB-5CB6-38E3-BDFD-7924BCFC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043AC-59BB-422D-A821-56617225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39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F6DD-316C-E43C-2D35-2331D2D7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9EF4C-1F12-88B8-2E08-9394EB7AB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11B6E-4D9F-36F8-6B84-3A27B2D2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77373-5A3F-3F34-7B48-FA929B2A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1C49E-226E-C01C-277F-42216922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19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4192B-6613-F56E-134E-BA8ADB9E1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873F2-B521-3658-5C26-617002E40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AD1A4-12F6-0BCD-CBF2-48D46A60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E13B5-8549-DBCF-14F6-6F36F0AB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6B839-A3F0-8C79-50A8-1A1771FF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75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723F43-01D0-782A-2C43-136758A7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1D32F-3100-8EB5-6150-B802C73F1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96A80-2851-D421-9799-8B87143C6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55C69-5A6E-4276-BA68-404477F23F4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F5F24-5E82-AF23-FD81-66501D1C9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6256-CB4A-88D4-F62D-BA9E6DD67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03E97-D488-4466-B1C7-06D117850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19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E60DD6-A5D3-EB20-A5C3-9C236B219FE7}"/>
              </a:ext>
            </a:extLst>
          </p:cNvPr>
          <p:cNvSpPr/>
          <p:nvPr/>
        </p:nvSpPr>
        <p:spPr>
          <a:xfrm>
            <a:off x="0" y="0"/>
            <a:ext cx="171450" cy="5143500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70A05-F509-7D71-845B-7794980613AF}"/>
              </a:ext>
            </a:extLst>
          </p:cNvPr>
          <p:cNvSpPr txBox="1"/>
          <p:nvPr/>
        </p:nvSpPr>
        <p:spPr>
          <a:xfrm>
            <a:off x="685800" y="685800"/>
            <a:ext cx="7620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400" b="1">
                <a:solidFill>
                  <a:srgbClr val="F05A28"/>
                </a:solidFill>
                <a:latin typeface="Aptos" panose="020B0004020202020204" pitchFamily="34" charset="0"/>
              </a:rPr>
              <a:t>NEW EMPLOYEE QUICK GUIDE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2DAB6-8E05-BE13-5F27-99661385B3CD}"/>
              </a:ext>
            </a:extLst>
          </p:cNvPr>
          <p:cNvSpPr txBox="1"/>
          <p:nvPr/>
        </p:nvSpPr>
        <p:spPr>
          <a:xfrm>
            <a:off x="685800" y="1257300"/>
            <a:ext cx="7715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4200" b="1">
                <a:solidFill>
                  <a:srgbClr val="FFFFFF"/>
                </a:solidFill>
                <a:latin typeface="Aptos" panose="020B0004020202020204" pitchFamily="34" charset="0"/>
              </a:rPr>
              <a:t>Email Escalation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A73BB-5E51-9575-8836-7EE2B671D870}"/>
              </a:ext>
            </a:extLst>
          </p:cNvPr>
          <p:cNvSpPr txBox="1"/>
          <p:nvPr/>
        </p:nvSpPr>
        <p:spPr>
          <a:xfrm>
            <a:off x="685800" y="1819275"/>
            <a:ext cx="7715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4200" b="1">
                <a:solidFill>
                  <a:srgbClr val="FFFFFF"/>
                </a:solidFill>
                <a:latin typeface="Aptos" panose="020B0004020202020204" pitchFamily="34" charset="0"/>
              </a:rPr>
              <a:t>Tracker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0B888-AE9B-9E94-EE88-29BFDCDDBCC4}"/>
              </a:ext>
            </a:extLst>
          </p:cNvPr>
          <p:cNvSpPr txBox="1"/>
          <p:nvPr/>
        </p:nvSpPr>
        <p:spPr>
          <a:xfrm>
            <a:off x="723900" y="2724150"/>
            <a:ext cx="7000875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000">
                <a:solidFill>
                  <a:srgbClr val="E4E7ED"/>
                </a:solidFill>
                <a:latin typeface="Aptos" panose="020B0004020202020204" pitchFamily="34" charset="0"/>
              </a:rPr>
              <a:t>Kaunsi mail track hoti hai, reminder kab aata hai,
aur aapko kya karna hai - seedhi bhaasha mein.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D0EFD3-AFD2-7846-969A-F32EA4A2E877}"/>
              </a:ext>
            </a:extLst>
          </p:cNvPr>
          <p:cNvSpPr/>
          <p:nvPr/>
        </p:nvSpPr>
        <p:spPr>
          <a:xfrm>
            <a:off x="723900" y="3790950"/>
            <a:ext cx="2628900" cy="495300"/>
          </a:xfrm>
          <a:prstGeom prst="round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86FCD-3E8C-7197-6CBA-591ECAC6F4D5}"/>
              </a:ext>
            </a:extLst>
          </p:cNvPr>
          <p:cNvSpPr txBox="1"/>
          <p:nvPr/>
        </p:nvSpPr>
        <p:spPr>
          <a:xfrm>
            <a:off x="876300" y="3886200"/>
            <a:ext cx="23241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10-minute onboarding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A76A1-BC8F-AFB4-D7E5-5DC64320D3C3}"/>
              </a:ext>
            </a:extLst>
          </p:cNvPr>
          <p:cNvSpPr txBox="1"/>
          <p:nvPr/>
        </p:nvSpPr>
        <p:spPr>
          <a:xfrm>
            <a:off x="723900" y="4705350"/>
            <a:ext cx="7620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100">
                <a:solidFill>
                  <a:srgbClr val="B7BCC8"/>
                </a:solidFill>
                <a:latin typeface="Aptos" panose="020B0004020202020204" pitchFamily="34" charset="0"/>
              </a:rPr>
              <a:t>Team ke saath mail ka follow-up - bina kisi important request ko bhoolay.</a:t>
            </a:r>
          </a:p>
        </p:txBody>
      </p:sp>
    </p:spTree>
    <p:extLst>
      <p:ext uri="{BB962C8B-B14F-4D97-AF65-F5344CB8AC3E}">
        <p14:creationId xmlns:p14="http://schemas.microsoft.com/office/powerpoint/2010/main" val="1070806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269943-5278-7D0E-3848-0F9BCFA6E886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26A47-5B23-6127-44CB-A003A138E8D0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700" b="1">
                <a:solidFill>
                  <a:srgbClr val="20222B"/>
                </a:solidFill>
                <a:latin typeface="Aptos" panose="020B0004020202020204" pitchFamily="34" charset="0"/>
              </a:rPr>
              <a:t>Ye system kya karta hai?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DF39F-FEB8-0A15-B58B-83BB29ABCD5E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6B7280"/>
                </a:solidFill>
                <a:latin typeface="Aptos" panose="020B0004020202020204" pitchFamily="34" charset="0"/>
              </a:rPr>
              <a:t>Isse email ka follow-up aur ownership ek jagah dikhte hain.</a:t>
            </a:r>
            <a:endParaRPr lang="en-IN" sz="13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5BDF1-1851-4FBC-3304-72CA988DE50D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CC354-E36A-AE36-A6D7-2CB588B83851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52655-6629-83C4-3191-E5A80E337DFE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766D17-9B5A-5016-89FE-2AF8847E27AC}"/>
              </a:ext>
            </a:extLst>
          </p:cNvPr>
          <p:cNvSpPr/>
          <p:nvPr/>
        </p:nvSpPr>
        <p:spPr>
          <a:xfrm>
            <a:off x="514350" y="1314450"/>
            <a:ext cx="25527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45B96D-9F4B-FC1B-98BB-B4BCA1CEE636}"/>
              </a:ext>
            </a:extLst>
          </p:cNvPr>
          <p:cNvSpPr/>
          <p:nvPr/>
        </p:nvSpPr>
        <p:spPr>
          <a:xfrm>
            <a:off x="514350" y="1314450"/>
            <a:ext cx="66675" cy="2209800"/>
          </a:xfrm>
          <a:prstGeom prst="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4CD98-AB33-C848-86C6-3E77607E7611}"/>
              </a:ext>
            </a:extLst>
          </p:cNvPr>
          <p:cNvSpPr txBox="1"/>
          <p:nvPr/>
        </p:nvSpPr>
        <p:spPr>
          <a:xfrm>
            <a:off x="704850" y="1466850"/>
            <a:ext cx="21907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i-FI" sz="1500" b="1">
                <a:solidFill>
                  <a:srgbClr val="20222B"/>
                </a:solidFill>
                <a:latin typeface="Aptos" panose="020B0004020202020204" pitchFamily="34" charset="0"/>
              </a:rPr>
              <a:t>Mail ko track karta hai</a:t>
            </a:r>
            <a:endParaRPr lang="en-IN" sz="1500" b="1">
              <a:solidFill>
                <a:srgbClr val="20222B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99AB4-FA5D-0F93-ED88-85D249151B82}"/>
              </a:ext>
            </a:extLst>
          </p:cNvPr>
          <p:cNvSpPr txBox="1"/>
          <p:nvPr/>
        </p:nvSpPr>
        <p:spPr>
          <a:xfrm>
            <a:off x="704850" y="1866900"/>
            <a:ext cx="21907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Monitored mailbox mein aayi mail ko system ek ticket/thread ke roop mein dashboard par laata hai.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D7184F-4087-E954-2F34-984A8343B33F}"/>
              </a:ext>
            </a:extLst>
          </p:cNvPr>
          <p:cNvSpPr/>
          <p:nvPr/>
        </p:nvSpPr>
        <p:spPr>
          <a:xfrm>
            <a:off x="3295650" y="1314450"/>
            <a:ext cx="25527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F562BD-33F5-C88A-E364-4FBF3194E55D}"/>
              </a:ext>
            </a:extLst>
          </p:cNvPr>
          <p:cNvSpPr/>
          <p:nvPr/>
        </p:nvSpPr>
        <p:spPr>
          <a:xfrm>
            <a:off x="3295650" y="1314450"/>
            <a:ext cx="66675" cy="2209800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CE0465-1825-C99D-04C2-359064912D01}"/>
              </a:ext>
            </a:extLst>
          </p:cNvPr>
          <p:cNvSpPr txBox="1"/>
          <p:nvPr/>
        </p:nvSpPr>
        <p:spPr>
          <a:xfrm>
            <a:off x="3486150" y="1466850"/>
            <a:ext cx="21907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Zimmedari dikhata hai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842DE-F835-4C57-ACD1-B4AA63E9858A}"/>
              </a:ext>
            </a:extLst>
          </p:cNvPr>
          <p:cNvSpPr txBox="1"/>
          <p:nvPr/>
        </p:nvSpPr>
        <p:spPr>
          <a:xfrm>
            <a:off x="3486150" y="1866900"/>
            <a:ext cx="21907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Ticket kis employee ko assigned hai, priority kya hai aur response ki due time kab hai - sab visible.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2229B7-5F7A-6C53-F282-AA17D5FD918A}"/>
              </a:ext>
            </a:extLst>
          </p:cNvPr>
          <p:cNvSpPr/>
          <p:nvPr/>
        </p:nvSpPr>
        <p:spPr>
          <a:xfrm>
            <a:off x="6076950" y="1314450"/>
            <a:ext cx="25527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F04E5A-A550-0B33-3813-B3F2B4A77E64}"/>
              </a:ext>
            </a:extLst>
          </p:cNvPr>
          <p:cNvSpPr/>
          <p:nvPr/>
        </p:nvSpPr>
        <p:spPr>
          <a:xfrm>
            <a:off x="6076950" y="1314450"/>
            <a:ext cx="66675" cy="2209800"/>
          </a:xfrm>
          <a:prstGeom prst="rect">
            <a:avLst/>
          </a:prstGeom>
          <a:solidFill>
            <a:srgbClr val="2684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FEB62F-40FD-1A02-391D-64182ECFACE7}"/>
              </a:ext>
            </a:extLst>
          </p:cNvPr>
          <p:cNvSpPr txBox="1"/>
          <p:nvPr/>
        </p:nvSpPr>
        <p:spPr>
          <a:xfrm>
            <a:off x="6267450" y="1466850"/>
            <a:ext cx="21907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Reminder bhejta hai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085525-7D6B-849E-359F-002C5E904C81}"/>
              </a:ext>
            </a:extLst>
          </p:cNvPr>
          <p:cNvSpPr txBox="1"/>
          <p:nvPr/>
        </p:nvSpPr>
        <p:spPr>
          <a:xfrm>
            <a:off x="6267450" y="1866900"/>
            <a:ext cx="21907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272A33"/>
                </a:solidFill>
                <a:latin typeface="Aptos" panose="020B0004020202020204" pitchFamily="34" charset="0"/>
              </a:rPr>
              <a:t>Reply na aaye toh reminder; zaroorat padne par manager/HOD aur aage HR/Admin tak escalation.</a:t>
            </a:r>
            <a:endParaRPr lang="en-IN" sz="13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6CFC2D-44AE-4716-FA1E-0372CB24C995}"/>
              </a:ext>
            </a:extLst>
          </p:cNvPr>
          <p:cNvSpPr txBox="1"/>
          <p:nvPr/>
        </p:nvSpPr>
        <p:spPr>
          <a:xfrm>
            <a:off x="628650" y="3857625"/>
            <a:ext cx="8001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600" b="1">
                <a:solidFill>
                  <a:srgbClr val="20222B"/>
                </a:solidFill>
                <a:latin typeface="Aptos" panose="020B0004020202020204" pitchFamily="34" charset="0"/>
              </a:rPr>
              <a:t>Yaad rakhein: tracker follow-up manage karta hai. Customer ko actual reply aapko Outlook/email se bhejna hota hai.</a:t>
            </a:r>
          </a:p>
        </p:txBody>
      </p:sp>
    </p:spTree>
    <p:extLst>
      <p:ext uri="{BB962C8B-B14F-4D97-AF65-F5344CB8AC3E}">
        <p14:creationId xmlns:p14="http://schemas.microsoft.com/office/powerpoint/2010/main" val="101618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48DBD6-73BA-F4A9-4C34-AA638ABE2936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9E4AF-7F1F-FD92-7040-A1700D2CAD01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700" b="1">
                <a:solidFill>
                  <a:srgbClr val="20222B"/>
                </a:solidFill>
                <a:latin typeface="Aptos" panose="020B0004020202020204" pitchFamily="34" charset="0"/>
              </a:rPr>
              <a:t>Ek email ka safar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80126-5680-711C-095B-659B0C52117F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6B7280"/>
                </a:solidFill>
                <a:latin typeface="Aptos" panose="020B0004020202020204" pitchFamily="34" charset="0"/>
              </a:rPr>
              <a:t>Ticket = ek original email conversation jise system follow karta hai.</a:t>
            </a:r>
            <a:endParaRPr lang="en-IN" sz="13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0D11B-2DB2-156A-C6A4-497BB9794E44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7352E-2054-E4B2-1886-37075DEB4336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5D311-71FC-43A0-55F4-6B28FDE859AE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C0BA91-4D94-9542-43DE-B2C725F52353}"/>
              </a:ext>
            </a:extLst>
          </p:cNvPr>
          <p:cNvSpPr/>
          <p:nvPr/>
        </p:nvSpPr>
        <p:spPr>
          <a:xfrm>
            <a:off x="476250" y="1790700"/>
            <a:ext cx="1504950" cy="167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FB4226-6794-F137-E263-F805489AF397}"/>
              </a:ext>
            </a:extLst>
          </p:cNvPr>
          <p:cNvSpPr/>
          <p:nvPr/>
        </p:nvSpPr>
        <p:spPr>
          <a:xfrm>
            <a:off x="619125" y="1943100"/>
            <a:ext cx="333375" cy="333375"/>
          </a:xfrm>
          <a:prstGeom prst="round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7CBDB-5B5B-52A3-8CCB-445DB5D49217}"/>
              </a:ext>
            </a:extLst>
          </p:cNvPr>
          <p:cNvSpPr txBox="1"/>
          <p:nvPr/>
        </p:nvSpPr>
        <p:spPr>
          <a:xfrm>
            <a:off x="619125" y="1990725"/>
            <a:ext cx="333375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60DAE-7F86-D1B2-E5B5-2665E3151D73}"/>
              </a:ext>
            </a:extLst>
          </p:cNvPr>
          <p:cNvSpPr txBox="1"/>
          <p:nvPr/>
        </p:nvSpPr>
        <p:spPr>
          <a:xfrm>
            <a:off x="619125" y="2419350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Mail aati hai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B8145-857D-3579-7787-2300F5EF7A61}"/>
              </a:ext>
            </a:extLst>
          </p:cNvPr>
          <p:cNvSpPr txBox="1"/>
          <p:nvPr/>
        </p:nvSpPr>
        <p:spPr>
          <a:xfrm>
            <a:off x="619125" y="2790825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fi-FI" sz="1200">
                <a:solidFill>
                  <a:srgbClr val="6B7280"/>
                </a:solidFill>
                <a:latin typeface="Aptos" panose="020B0004020202020204" pitchFamily="34" charset="0"/>
              </a:rPr>
              <a:t>Monitor kiye ja rahe inbox mein</a:t>
            </a:r>
            <a:endParaRPr lang="en-IN" sz="12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D76DC9-D323-4462-36E1-212CA6E967BF}"/>
              </a:ext>
            </a:extLst>
          </p:cNvPr>
          <p:cNvSpPr/>
          <p:nvPr/>
        </p:nvSpPr>
        <p:spPr>
          <a:xfrm>
            <a:off x="2171700" y="1790700"/>
            <a:ext cx="1504950" cy="167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18067C-6A58-1541-4534-BFF4464EC830}"/>
              </a:ext>
            </a:extLst>
          </p:cNvPr>
          <p:cNvSpPr/>
          <p:nvPr/>
        </p:nvSpPr>
        <p:spPr>
          <a:xfrm>
            <a:off x="2314575" y="1943100"/>
            <a:ext cx="333375" cy="333375"/>
          </a:xfrm>
          <a:prstGeom prst="round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2AEEA-DF09-7208-E25B-366B97983950}"/>
              </a:ext>
            </a:extLst>
          </p:cNvPr>
          <p:cNvSpPr txBox="1"/>
          <p:nvPr/>
        </p:nvSpPr>
        <p:spPr>
          <a:xfrm>
            <a:off x="2314575" y="1990725"/>
            <a:ext cx="333375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4FA089-A2F8-92BB-D5C7-615F05DCDCE7}"/>
              </a:ext>
            </a:extLst>
          </p:cNvPr>
          <p:cNvSpPr txBox="1"/>
          <p:nvPr/>
        </p:nvSpPr>
        <p:spPr>
          <a:xfrm>
            <a:off x="2314575" y="2419350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Ticket banta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812247-912E-C8B6-BC42-62792E1D843A}"/>
              </a:ext>
            </a:extLst>
          </p:cNvPr>
          <p:cNvSpPr txBox="1"/>
          <p:nvPr/>
        </p:nvSpPr>
        <p:spPr>
          <a:xfrm>
            <a:off x="2314575" y="2790825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>
                <a:solidFill>
                  <a:srgbClr val="6B7280"/>
                </a:solidFill>
                <a:latin typeface="Aptos" panose="020B0004020202020204" pitchFamily="34" charset="0"/>
              </a:rPr>
              <a:t>Subject keywords check hote hain</a:t>
            </a:r>
            <a:endParaRPr lang="en-IN" sz="12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BBAC71-59C4-F31C-1F52-BE5DDAD7C2AC}"/>
              </a:ext>
            </a:extLst>
          </p:cNvPr>
          <p:cNvSpPr/>
          <p:nvPr/>
        </p:nvSpPr>
        <p:spPr>
          <a:xfrm>
            <a:off x="3867150" y="1790700"/>
            <a:ext cx="1504950" cy="167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42C0D4-26E7-EBFC-9410-7CF3B36835BD}"/>
              </a:ext>
            </a:extLst>
          </p:cNvPr>
          <p:cNvSpPr/>
          <p:nvPr/>
        </p:nvSpPr>
        <p:spPr>
          <a:xfrm>
            <a:off x="4010025" y="1943100"/>
            <a:ext cx="333375" cy="333375"/>
          </a:xfrm>
          <a:prstGeom prst="round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B1A83-2AC6-2C84-7F10-9D38D02ACCC4}"/>
              </a:ext>
            </a:extLst>
          </p:cNvPr>
          <p:cNvSpPr txBox="1"/>
          <p:nvPr/>
        </p:nvSpPr>
        <p:spPr>
          <a:xfrm>
            <a:off x="4010025" y="1990725"/>
            <a:ext cx="333375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A5051A-D4A2-0F90-7D47-87999281E2AF}"/>
              </a:ext>
            </a:extLst>
          </p:cNvPr>
          <p:cNvSpPr txBox="1"/>
          <p:nvPr/>
        </p:nvSpPr>
        <p:spPr>
          <a:xfrm>
            <a:off x="4010025" y="2419350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Owner 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A78D44-305D-8647-0157-5B26344B8CFC}"/>
              </a:ext>
            </a:extLst>
          </p:cNvPr>
          <p:cNvSpPr txBox="1"/>
          <p:nvPr/>
        </p:nvSpPr>
        <p:spPr>
          <a:xfrm>
            <a:off x="4010025" y="2790825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00">
                <a:solidFill>
                  <a:srgbClr val="6B7280"/>
                </a:solidFill>
                <a:latin typeface="Aptos" panose="020B0004020202020204" pitchFamily="34" charset="0"/>
              </a:rPr>
              <a:t>Employee + due time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7D19CC-CBF0-4E86-6C45-9BE82D5EF1AE}"/>
              </a:ext>
            </a:extLst>
          </p:cNvPr>
          <p:cNvSpPr/>
          <p:nvPr/>
        </p:nvSpPr>
        <p:spPr>
          <a:xfrm>
            <a:off x="5562600" y="1790700"/>
            <a:ext cx="1504950" cy="167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D49DB7-E1D8-0EA5-F66B-F85C1E38C03D}"/>
              </a:ext>
            </a:extLst>
          </p:cNvPr>
          <p:cNvSpPr/>
          <p:nvPr/>
        </p:nvSpPr>
        <p:spPr>
          <a:xfrm>
            <a:off x="5705475" y="1943100"/>
            <a:ext cx="333375" cy="333375"/>
          </a:xfrm>
          <a:prstGeom prst="round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A04212-8E5C-E85E-8DF5-4C41866F3430}"/>
              </a:ext>
            </a:extLst>
          </p:cNvPr>
          <p:cNvSpPr txBox="1"/>
          <p:nvPr/>
        </p:nvSpPr>
        <p:spPr>
          <a:xfrm>
            <a:off x="5705475" y="1990725"/>
            <a:ext cx="333375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A7C006-E9BD-11C4-9DF5-358903A8761F}"/>
              </a:ext>
            </a:extLst>
          </p:cNvPr>
          <p:cNvSpPr txBox="1"/>
          <p:nvPr/>
        </p:nvSpPr>
        <p:spPr>
          <a:xfrm>
            <a:off x="5705475" y="2419350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Reminder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A6A53-DCF4-5DF5-D458-8BE1181AB9D0}"/>
              </a:ext>
            </a:extLst>
          </p:cNvPr>
          <p:cNvSpPr txBox="1"/>
          <p:nvPr/>
        </p:nvSpPr>
        <p:spPr>
          <a:xfrm>
            <a:off x="5705475" y="2790825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00">
                <a:solidFill>
                  <a:srgbClr val="6B7280"/>
                </a:solidFill>
                <a:latin typeface="Aptos" panose="020B0004020202020204" pitchFamily="34" charset="0"/>
              </a:rPr>
              <a:t>Reminder / escalation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EAFEA7-61D5-F95C-905D-F52045B46B72}"/>
              </a:ext>
            </a:extLst>
          </p:cNvPr>
          <p:cNvSpPr/>
          <p:nvPr/>
        </p:nvSpPr>
        <p:spPr>
          <a:xfrm>
            <a:off x="7258050" y="1790700"/>
            <a:ext cx="1504950" cy="167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A4B5BB4-5F53-692E-6B07-4D97E618E196}"/>
              </a:ext>
            </a:extLst>
          </p:cNvPr>
          <p:cNvSpPr/>
          <p:nvPr/>
        </p:nvSpPr>
        <p:spPr>
          <a:xfrm>
            <a:off x="7400925" y="1943100"/>
            <a:ext cx="333375" cy="333375"/>
          </a:xfrm>
          <a:prstGeom prst="round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168968-0037-17B8-F327-B13CEBC4CE8B}"/>
              </a:ext>
            </a:extLst>
          </p:cNvPr>
          <p:cNvSpPr txBox="1"/>
          <p:nvPr/>
        </p:nvSpPr>
        <p:spPr>
          <a:xfrm>
            <a:off x="7400925" y="1990725"/>
            <a:ext cx="333375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123133-0F9B-2FB5-C7A1-EA29EDF42342}"/>
              </a:ext>
            </a:extLst>
          </p:cNvPr>
          <p:cNvSpPr txBox="1"/>
          <p:nvPr/>
        </p:nvSpPr>
        <p:spPr>
          <a:xfrm>
            <a:off x="7400925" y="2419350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Matter close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78CB82-9AAE-25E8-A2DC-1ACF19F6D317}"/>
              </a:ext>
            </a:extLst>
          </p:cNvPr>
          <p:cNvSpPr txBox="1"/>
          <p:nvPr/>
        </p:nvSpPr>
        <p:spPr>
          <a:xfrm>
            <a:off x="7400925" y="2790825"/>
            <a:ext cx="1238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00">
                <a:solidFill>
                  <a:srgbClr val="6B7280"/>
                </a:solidFill>
                <a:latin typeface="Aptos" panose="020B0004020202020204" pitchFamily="34" charset="0"/>
              </a:rPr>
              <a:t>Reply, resolution ya close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520F9D-79E6-8352-60B6-3A48C0BAB2ED}"/>
              </a:ext>
            </a:extLst>
          </p:cNvPr>
          <p:cNvSpPr txBox="1"/>
          <p:nvPr/>
        </p:nvSpPr>
        <p:spPr>
          <a:xfrm>
            <a:off x="666750" y="3810000"/>
            <a:ext cx="7810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500" b="1">
                <a:solidFill>
                  <a:srgbClr val="C94B4B"/>
                </a:solidFill>
                <a:latin typeface="Aptos" panose="020B0004020202020204" pitchFamily="34" charset="0"/>
              </a:rPr>
              <a:t>Mailbox monitoring off ho toh us mailbox mein aaya email/reply system ko dikhai nahi dega.</a:t>
            </a:r>
          </a:p>
        </p:txBody>
      </p:sp>
    </p:spTree>
    <p:extLst>
      <p:ext uri="{BB962C8B-B14F-4D97-AF65-F5344CB8AC3E}">
        <p14:creationId xmlns:p14="http://schemas.microsoft.com/office/powerpoint/2010/main" val="901326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E7772-5C74-9DAE-04C8-47F9CE957AB3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B6D09-B52A-2DCB-AB44-07181ACF0C70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700" b="1">
                <a:solidFill>
                  <a:srgbClr val="20222B"/>
                </a:solidFill>
                <a:latin typeface="Aptos" panose="020B0004020202020204" pitchFamily="34" charset="0"/>
              </a:rPr>
              <a:t>Aapki zimmedari kya hai?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D4779-F13B-C0DC-FD3C-6E81908B4FFB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6B7280"/>
                </a:solidFill>
                <a:latin typeface="Aptos" panose="020B0004020202020204" pitchFamily="34" charset="0"/>
              </a:rPr>
              <a:t>Ticket assign hona matlab follow-up ka owner aap hain.</a:t>
            </a:r>
            <a:endParaRPr lang="en-IN" sz="13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50613-DCE3-C68D-73B1-729971176585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8174C4-25AD-EF6D-8013-AACFA1DEC8C9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23D6A-E131-F617-96D5-DDE579BDE746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922A8E-415D-0F80-C22F-440D403326CB}"/>
              </a:ext>
            </a:extLst>
          </p:cNvPr>
          <p:cNvSpPr/>
          <p:nvPr/>
        </p:nvSpPr>
        <p:spPr>
          <a:xfrm>
            <a:off x="514350" y="1257300"/>
            <a:ext cx="3886200" cy="285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08BBE8-7ED5-0B7B-7EEE-74204F909230}"/>
              </a:ext>
            </a:extLst>
          </p:cNvPr>
          <p:cNvSpPr/>
          <p:nvPr/>
        </p:nvSpPr>
        <p:spPr>
          <a:xfrm>
            <a:off x="514350" y="1257300"/>
            <a:ext cx="66675" cy="2857500"/>
          </a:xfrm>
          <a:prstGeom prst="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FF67D-382C-79D9-076A-368162C3D75F}"/>
              </a:ext>
            </a:extLst>
          </p:cNvPr>
          <p:cNvSpPr txBox="1"/>
          <p:nvPr/>
        </p:nvSpPr>
        <p:spPr>
          <a:xfrm>
            <a:off x="704850" y="1409700"/>
            <a:ext cx="3524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nn-NO" sz="1500" b="1">
                <a:solidFill>
                  <a:srgbClr val="20222B"/>
                </a:solidFill>
                <a:latin typeface="Aptos" panose="020B0004020202020204" pitchFamily="34" charset="0"/>
              </a:rPr>
              <a:t>Har din ye 4 kaam karein</a:t>
            </a:r>
            <a:endParaRPr lang="en-IN" sz="1500" b="1">
              <a:solidFill>
                <a:srgbClr val="20222B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6B849-74BE-6680-4FEE-E8FA987BF0C1}"/>
              </a:ext>
            </a:extLst>
          </p:cNvPr>
          <p:cNvSpPr txBox="1"/>
          <p:nvPr/>
        </p:nvSpPr>
        <p:spPr>
          <a:xfrm>
            <a:off x="704850" y="1809750"/>
            <a:ext cx="3524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1. Dashboard par Open tickets dekhein.</a:t>
            </a:r>
          </a:p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2. Original email aur poori conversation padhein.</a:t>
            </a:r>
          </a:p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3. Customer ko apne monitored mailbox se reply karein.</a:t>
            </a:r>
          </a:p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4. Reply/next action ka status verify karein.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107F12-6D2A-1828-B313-AC01F022CC13}"/>
              </a:ext>
            </a:extLst>
          </p:cNvPr>
          <p:cNvSpPr/>
          <p:nvPr/>
        </p:nvSpPr>
        <p:spPr>
          <a:xfrm>
            <a:off x="4705350" y="1257300"/>
            <a:ext cx="3924300" cy="285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B33485-A3F4-5209-4868-7C9EB6E8EA74}"/>
              </a:ext>
            </a:extLst>
          </p:cNvPr>
          <p:cNvSpPr/>
          <p:nvPr/>
        </p:nvSpPr>
        <p:spPr>
          <a:xfrm>
            <a:off x="4705350" y="1257300"/>
            <a:ext cx="66675" cy="2857500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84D6A8-14EB-4B4A-29E7-4D70F0AD805F}"/>
              </a:ext>
            </a:extLst>
          </p:cNvPr>
          <p:cNvSpPr txBox="1"/>
          <p:nvPr/>
        </p:nvSpPr>
        <p:spPr>
          <a:xfrm>
            <a:off x="4895850" y="140970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Kuch galat lage toh?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C8A45-6432-49D9-6350-8E73EA947997}"/>
              </a:ext>
            </a:extLst>
          </p:cNvPr>
          <p:cNvSpPr txBox="1"/>
          <p:nvPr/>
        </p:nvSpPr>
        <p:spPr>
          <a:xfrm>
            <a:off x="4895850" y="180975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Ticket kisi aur ko assign hai? Manager ko batayein.</a:t>
            </a:r>
          </a:p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Priority/subject galat lagta hai? Email details check karein.</a:t>
            </a:r>
          </a:p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Deadline se pehle madad chahiye? Manager/HOD ko proactively involve karein.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FB299B-7131-F1C3-7EE0-C0680C9D876A}"/>
              </a:ext>
            </a:extLst>
          </p:cNvPr>
          <p:cNvSpPr txBox="1"/>
          <p:nvPr/>
        </p:nvSpPr>
        <p:spPr>
          <a:xfrm>
            <a:off x="638175" y="4362450"/>
            <a:ext cx="79248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400" b="1">
                <a:solidFill>
                  <a:srgbClr val="20222B"/>
                </a:solidFill>
                <a:latin typeface="Aptos" panose="020B0004020202020204" pitchFamily="34" charset="0"/>
              </a:rPr>
              <a:t>Sirf internal message bhejna customer ko response dene ka substitute nahi hai.</a:t>
            </a:r>
          </a:p>
        </p:txBody>
      </p:sp>
    </p:spTree>
    <p:extLst>
      <p:ext uri="{BB962C8B-B14F-4D97-AF65-F5344CB8AC3E}">
        <p14:creationId xmlns:p14="http://schemas.microsoft.com/office/powerpoint/2010/main" val="54870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8D65B9-8750-E311-74B1-F83CC4DF32F4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AFAA7-8188-7618-BA00-2E10936BEC51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700" b="1">
                <a:solidFill>
                  <a:srgbClr val="20222B"/>
                </a:solidFill>
                <a:latin typeface="Aptos" panose="020B0004020202020204" pitchFamily="34" charset="0"/>
              </a:rPr>
              <a:t>Kaunsi mails escalation queue mein jaati hain?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2EC58-2A25-D41C-FA72-813035DFF5F1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300">
                <a:solidFill>
                  <a:srgbClr val="6B7280"/>
                </a:solidFill>
                <a:latin typeface="Aptos" panose="020B0004020202020204" pitchFamily="34" charset="0"/>
              </a:rPr>
              <a:t>System configured keywords ko email ke subject mein check karta hai.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C37FF4-5444-0D5B-5A37-9844A4D01CAD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307B6-9270-5C00-DFBF-CA270B9E9209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BF8D7-3CDA-8775-CFE2-2CF0F00EA1D8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CE7E22-6651-1D89-17D2-8E4F17AB7D06}"/>
              </a:ext>
            </a:extLst>
          </p:cNvPr>
          <p:cNvSpPr/>
          <p:nvPr/>
        </p:nvSpPr>
        <p:spPr>
          <a:xfrm>
            <a:off x="514350" y="1362075"/>
            <a:ext cx="3810000" cy="23241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71B22F-42A7-39C0-C2AA-4FDCC32F32F2}"/>
              </a:ext>
            </a:extLst>
          </p:cNvPr>
          <p:cNvSpPr/>
          <p:nvPr/>
        </p:nvSpPr>
        <p:spPr>
          <a:xfrm>
            <a:off x="514350" y="1362075"/>
            <a:ext cx="66675" cy="2324100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8132D-F471-F20B-FBC1-E8220DDEF592}"/>
              </a:ext>
            </a:extLst>
          </p:cNvPr>
          <p:cNvSpPr txBox="1"/>
          <p:nvPr/>
        </p:nvSpPr>
        <p:spPr>
          <a:xfrm>
            <a:off x="704850" y="1514475"/>
            <a:ext cx="34480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Keyword match mila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7E827-DC62-B1DF-BC7C-E01AF303BEB6}"/>
              </a:ext>
            </a:extLst>
          </p:cNvPr>
          <p:cNvSpPr txBox="1"/>
          <p:nvPr/>
        </p:nvSpPr>
        <p:spPr>
          <a:xfrm>
            <a:off x="704850" y="1914525"/>
            <a:ext cx="34480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Mail Important/priority queue mein aa sakti hai. Reminder ke baad SLA breach par Manager/HOD ko escalate kiya ja sakta hai.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B2544A-0EE8-BCC9-230F-246EB9505F42}"/>
              </a:ext>
            </a:extLst>
          </p:cNvPr>
          <p:cNvSpPr/>
          <p:nvPr/>
        </p:nvSpPr>
        <p:spPr>
          <a:xfrm>
            <a:off x="4705350" y="1362075"/>
            <a:ext cx="3924300" cy="23241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4DA4D5-DC25-F095-FE62-A3BEE3BD9DA8}"/>
              </a:ext>
            </a:extLst>
          </p:cNvPr>
          <p:cNvSpPr/>
          <p:nvPr/>
        </p:nvSpPr>
        <p:spPr>
          <a:xfrm>
            <a:off x="4705350" y="1362075"/>
            <a:ext cx="66675" cy="2324100"/>
          </a:xfrm>
          <a:prstGeom prst="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8DFAF-0C53-B850-2149-704AE4B5B8DE}"/>
              </a:ext>
            </a:extLst>
          </p:cNvPr>
          <p:cNvSpPr txBox="1"/>
          <p:nvPr/>
        </p:nvSpPr>
        <p:spPr>
          <a:xfrm>
            <a:off x="4895850" y="1514475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Keyword match nahi mila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81E94F-B58A-F195-1281-F4F067BBC30F}"/>
              </a:ext>
            </a:extLst>
          </p:cNvPr>
          <p:cNvSpPr txBox="1"/>
          <p:nvPr/>
        </p:nvSpPr>
        <p:spPr>
          <a:xfrm>
            <a:off x="4895850" y="1914525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Mail employee ke paas track ho sakti hai, lekin policy ke mutabik Manager/HOD/HR tak escalation nahi hoti.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6A7649-16C0-CAB8-4889-F7BC7A964173}"/>
              </a:ext>
            </a:extLst>
          </p:cNvPr>
          <p:cNvSpPr/>
          <p:nvPr/>
        </p:nvSpPr>
        <p:spPr>
          <a:xfrm>
            <a:off x="628650" y="4038600"/>
            <a:ext cx="95250" cy="95250"/>
          </a:xfrm>
          <a:prstGeom prst="roundRect">
            <a:avLst/>
          </a:prstGeom>
          <a:solidFill>
            <a:srgbClr val="2684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2C2D16-7146-FB55-A9CF-BA134B0FFCD5}"/>
              </a:ext>
            </a:extLst>
          </p:cNvPr>
          <p:cNvSpPr txBox="1"/>
          <p:nvPr/>
        </p:nvSpPr>
        <p:spPr>
          <a:xfrm>
            <a:off x="838200" y="3962400"/>
            <a:ext cx="7600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272A33"/>
                </a:solidFill>
                <a:latin typeface="Aptos" panose="020B0004020202020204" pitchFamily="34" charset="0"/>
              </a:rPr>
              <a:t>Keyword list/configuration department ke hisaab se hoti hai.</a:t>
            </a:r>
            <a:endParaRPr lang="en-IN" sz="14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0CA88C6-897E-1C1A-5351-F5E83CA4D0C1}"/>
              </a:ext>
            </a:extLst>
          </p:cNvPr>
          <p:cNvSpPr/>
          <p:nvPr/>
        </p:nvSpPr>
        <p:spPr>
          <a:xfrm>
            <a:off x="628650" y="4400550"/>
            <a:ext cx="95250" cy="95250"/>
          </a:xfrm>
          <a:prstGeom prst="roundRect">
            <a:avLst/>
          </a:prstGeom>
          <a:solidFill>
            <a:srgbClr val="D89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378287-B9F8-F95B-C9F6-1B1D3C831E2C}"/>
              </a:ext>
            </a:extLst>
          </p:cNvPr>
          <p:cNvSpPr txBox="1"/>
          <p:nvPr/>
        </p:nvSpPr>
        <p:spPr>
          <a:xfrm>
            <a:off x="838200" y="4324350"/>
            <a:ext cx="7600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>
                <a:solidFill>
                  <a:srgbClr val="272A33"/>
                </a:solidFill>
                <a:latin typeface="Aptos" panose="020B0004020202020204" pitchFamily="34" charset="0"/>
              </a:rPr>
              <a:t>Har email automatic escalation nahi hoti; subject match aur ticket settings matter karte hain.</a:t>
            </a:r>
          </a:p>
        </p:txBody>
      </p:sp>
    </p:spTree>
    <p:extLst>
      <p:ext uri="{BB962C8B-B14F-4D97-AF65-F5344CB8AC3E}">
        <p14:creationId xmlns:p14="http://schemas.microsoft.com/office/powerpoint/2010/main" val="403220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38D51F-E9C2-36BC-2BDB-8E37F1FFF953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4229A-9959-BAB8-F5C9-81CFF95B9840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fr-FR" sz="2700" b="1">
                <a:solidFill>
                  <a:srgbClr val="20222B"/>
                </a:solidFill>
                <a:latin typeface="Aptos" panose="020B0004020202020204" pitchFamily="34" charset="0"/>
              </a:rPr>
              <a:t>Reminder aur escalation kaise chalte hain?</a:t>
            </a:r>
            <a:endParaRPr lang="en-IN" sz="2700" b="1">
              <a:solidFill>
                <a:srgbClr val="20222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AAE5D-A5C2-EB93-EC47-CF688C4502B6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300">
                <a:solidFill>
                  <a:srgbClr val="6B7280"/>
                </a:solidFill>
                <a:latin typeface="Aptos" panose="020B0004020202020204" pitchFamily="34" charset="0"/>
              </a:rPr>
              <a:t>Working hours, chhutti aur ticket ke SLA ke hisaab se samay calculate hota hai.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8C4A3-ACA9-F8E2-80EB-1C0343D5FB3C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18B14-2317-77CD-AD72-E80D8DE2296B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A89ED-D0AE-0271-4B3B-D3AAF61ED3FF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7573A2-EBE8-61F8-2F60-8DE5074E8F39}"/>
              </a:ext>
            </a:extLst>
          </p:cNvPr>
          <p:cNvSpPr/>
          <p:nvPr/>
        </p:nvSpPr>
        <p:spPr>
          <a:xfrm>
            <a:off x="514350" y="1438275"/>
            <a:ext cx="2457450" cy="234315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080711-7E9B-CBA7-8458-5D945C6B3088}"/>
              </a:ext>
            </a:extLst>
          </p:cNvPr>
          <p:cNvSpPr/>
          <p:nvPr/>
        </p:nvSpPr>
        <p:spPr>
          <a:xfrm>
            <a:off x="514350" y="1438275"/>
            <a:ext cx="66675" cy="2343150"/>
          </a:xfrm>
          <a:prstGeom prst="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FAA6-0961-E944-1193-7BDB6748216E}"/>
              </a:ext>
            </a:extLst>
          </p:cNvPr>
          <p:cNvSpPr txBox="1"/>
          <p:nvPr/>
        </p:nvSpPr>
        <p:spPr>
          <a:xfrm>
            <a:off x="704850" y="1590675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Level 1 - Employee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AB55A-D11C-26DD-9C1B-AFBFD92200F6}"/>
              </a:ext>
            </a:extLst>
          </p:cNvPr>
          <p:cNvSpPr txBox="1"/>
          <p:nvPr/>
        </p:nvSpPr>
        <p:spPr>
          <a:xfrm>
            <a:off x="704850" y="1990725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Pehle assigned employee ko reminder milta hai. Due time tak response na aaye aur ticket escalation-eligible ho toh agla level.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068E03-27BF-D52F-CDD3-B4640CD05042}"/>
              </a:ext>
            </a:extLst>
          </p:cNvPr>
          <p:cNvSpPr/>
          <p:nvPr/>
        </p:nvSpPr>
        <p:spPr>
          <a:xfrm>
            <a:off x="3333750" y="1438275"/>
            <a:ext cx="2457450" cy="234315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83CF62-FC3C-002E-CE0E-25992DCCA294}"/>
              </a:ext>
            </a:extLst>
          </p:cNvPr>
          <p:cNvSpPr/>
          <p:nvPr/>
        </p:nvSpPr>
        <p:spPr>
          <a:xfrm>
            <a:off x="3333750" y="1438275"/>
            <a:ext cx="66675" cy="2343150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499905-B673-1604-805B-D0224256BCBC}"/>
              </a:ext>
            </a:extLst>
          </p:cNvPr>
          <p:cNvSpPr txBox="1"/>
          <p:nvPr/>
        </p:nvSpPr>
        <p:spPr>
          <a:xfrm>
            <a:off x="3524250" y="1590675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Level 2: Manager/HOD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F98EC-4142-1AC8-DC43-3582247BFF7C}"/>
              </a:ext>
            </a:extLst>
          </p:cNvPr>
          <p:cNvSpPr txBox="1"/>
          <p:nvPr/>
        </p:nvSpPr>
        <p:spPr>
          <a:xfrm>
            <a:off x="3524250" y="1990725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Manager aur HOD ko action email. Nayi working-time window ke baad bhi pending raha toh final escalation.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BF1B35-FAA6-1617-826B-DA1D3B13E7DB}"/>
              </a:ext>
            </a:extLst>
          </p:cNvPr>
          <p:cNvSpPr/>
          <p:nvPr/>
        </p:nvSpPr>
        <p:spPr>
          <a:xfrm>
            <a:off x="6153150" y="1438275"/>
            <a:ext cx="2457450" cy="234315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D0A178-ABB1-6487-5D40-39652BC2FCD3}"/>
              </a:ext>
            </a:extLst>
          </p:cNvPr>
          <p:cNvSpPr/>
          <p:nvPr/>
        </p:nvSpPr>
        <p:spPr>
          <a:xfrm>
            <a:off x="6153150" y="1438275"/>
            <a:ext cx="66675" cy="2343150"/>
          </a:xfrm>
          <a:prstGeom prst="rect">
            <a:avLst/>
          </a:prstGeom>
          <a:solidFill>
            <a:srgbClr val="C9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4CC5E-43F2-4440-A943-13B40CF8DA3D}"/>
              </a:ext>
            </a:extLst>
          </p:cNvPr>
          <p:cNvSpPr txBox="1"/>
          <p:nvPr/>
        </p:nvSpPr>
        <p:spPr>
          <a:xfrm>
            <a:off x="6343650" y="1590675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Level 3 - HR/Admin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14986-46C1-A53F-DCEF-6EABB6BC136A}"/>
              </a:ext>
            </a:extLst>
          </p:cNvPr>
          <p:cNvSpPr txBox="1"/>
          <p:nvPr/>
        </p:nvSpPr>
        <p:spPr>
          <a:xfrm>
            <a:off x="6343650" y="1990725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Final escalation HR/Admin contacts ko jaati hai. Involved logon ki details bhi share hoti hain.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EFBB8-1345-A4A5-DD53-FF830016F0EB}"/>
              </a:ext>
            </a:extLst>
          </p:cNvPr>
          <p:cNvSpPr txBox="1"/>
          <p:nvPr/>
        </p:nvSpPr>
        <p:spPr>
          <a:xfrm>
            <a:off x="628650" y="4038600"/>
            <a:ext cx="80200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20222B"/>
                </a:solidFill>
                <a:latin typeface="Aptos" panose="020B0004020202020204" pitchFamily="34" charset="0"/>
              </a:rPr>
              <a:t>Exact timing sender, department, working-hours calendar aur configured SLA par depend karti hai - fixed clock-time assume na karein.</a:t>
            </a:r>
            <a:endParaRPr lang="en-IN" sz="1400" b="1">
              <a:solidFill>
                <a:srgbClr val="2022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51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B1C20B-36E1-003B-9F38-DBAD302B6BE6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B4F46-B187-F018-727D-5FF5349D9BFD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700" b="1">
                <a:solidFill>
                  <a:srgbClr val="20222B"/>
                </a:solidFill>
                <a:latin typeface="Aptos" panose="020B0004020202020204" pitchFamily="34" charset="0"/>
              </a:rPr>
              <a:t>Reply aa jaaye toh system kya karta hai?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4A809-AA9E-534D-CBF8-1F66ABCE525A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300">
                <a:solidFill>
                  <a:srgbClr val="6B7280"/>
                </a:solidFill>
                <a:latin typeface="Aptos" panose="020B0004020202020204" pitchFamily="34" charset="0"/>
              </a:rPr>
              <a:t>Auto-reply/OOO ko genuine reply nahi maana jaata.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1B8E68-F2B2-44A7-F931-895952BFBC83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272DD-D020-25C3-7CC2-39998249D20F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942D5-4A23-3CE9-4B34-D6FAF239A384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6F79A3-3A6A-5B2F-BC9F-A6B0F9AC9F52}"/>
              </a:ext>
            </a:extLst>
          </p:cNvPr>
          <p:cNvSpPr/>
          <p:nvPr/>
        </p:nvSpPr>
        <p:spPr>
          <a:xfrm>
            <a:off x="514350" y="1276350"/>
            <a:ext cx="3886200" cy="207645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21A1A-55C8-1158-9CDA-D1CAE20F9937}"/>
              </a:ext>
            </a:extLst>
          </p:cNvPr>
          <p:cNvSpPr/>
          <p:nvPr/>
        </p:nvSpPr>
        <p:spPr>
          <a:xfrm>
            <a:off x="514350" y="1276350"/>
            <a:ext cx="66675" cy="2076450"/>
          </a:xfrm>
          <a:prstGeom prst="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3EABE-56FD-D4C8-2B06-84ED6ABE7E48}"/>
              </a:ext>
            </a:extLst>
          </p:cNvPr>
          <p:cNvSpPr txBox="1"/>
          <p:nvPr/>
        </p:nvSpPr>
        <p:spPr>
          <a:xfrm>
            <a:off x="704850" y="1428750"/>
            <a:ext cx="3524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Employee ka genuine reply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A94AA-0B2D-E5A2-8052-92E1D8FA8032}"/>
              </a:ext>
            </a:extLst>
          </p:cNvPr>
          <p:cNvSpPr txBox="1"/>
          <p:nvPr/>
        </p:nvSpPr>
        <p:spPr>
          <a:xfrm>
            <a:off x="704850" y="1828800"/>
            <a:ext cx="3524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Monitored mailbox mein employee ka real reply milne par ticket Replied mark hota hai aur reminder rukta hai.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F2281D-DE8D-CB93-2CA7-97BEEDB01762}"/>
              </a:ext>
            </a:extLst>
          </p:cNvPr>
          <p:cNvSpPr/>
          <p:nvPr/>
        </p:nvSpPr>
        <p:spPr>
          <a:xfrm>
            <a:off x="4705350" y="1276350"/>
            <a:ext cx="3924300" cy="207645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3639F6-70FF-47D0-501D-B060BA6CEFFF}"/>
              </a:ext>
            </a:extLst>
          </p:cNvPr>
          <p:cNvSpPr/>
          <p:nvPr/>
        </p:nvSpPr>
        <p:spPr>
          <a:xfrm>
            <a:off x="4705350" y="1276350"/>
            <a:ext cx="66675" cy="2076450"/>
          </a:xfrm>
          <a:prstGeom prst="rect">
            <a:avLst/>
          </a:prstGeom>
          <a:solidFill>
            <a:srgbClr val="2684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493C6-EFF7-6043-3CF2-657BA9564E8C}"/>
              </a:ext>
            </a:extLst>
          </p:cNvPr>
          <p:cNvSpPr txBox="1"/>
          <p:nvPr/>
        </p:nvSpPr>
        <p:spPr>
          <a:xfrm>
            <a:off x="4895850" y="142875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Client / To-recipient ka reply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4C1BB0-8688-ACD2-00EE-965951A08246}"/>
              </a:ext>
            </a:extLst>
          </p:cNvPr>
          <p:cNvSpPr txBox="1"/>
          <p:nvPr/>
        </p:nvSpPr>
        <p:spPr>
          <a:xfrm>
            <a:off x="4895850" y="182880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AI check karta hai: issue solve/sufficient hai toh reminder stop; unresolved ya unclear ho toh reminder active rahe/restart ho.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A509A6-A0FA-8C0D-F9C6-993B2FE7D062}"/>
              </a:ext>
            </a:extLst>
          </p:cNvPr>
          <p:cNvSpPr/>
          <p:nvPr/>
        </p:nvSpPr>
        <p:spPr>
          <a:xfrm>
            <a:off x="514350" y="3638550"/>
            <a:ext cx="8115300" cy="742950"/>
          </a:xfrm>
          <a:prstGeom prst="roundRect">
            <a:avLst/>
          </a:prstGeom>
          <a:solidFill>
            <a:srgbClr val="FF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D1C33-1264-A2BD-9B55-B08DA3C74F23}"/>
              </a:ext>
            </a:extLst>
          </p:cNvPr>
          <p:cNvSpPr txBox="1"/>
          <p:nvPr/>
        </p:nvSpPr>
        <p:spPr>
          <a:xfrm>
            <a:off x="685800" y="3781425"/>
            <a:ext cx="77914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400">
                <a:solidFill>
                  <a:srgbClr val="272A33"/>
                </a:solidFill>
                <a:latin typeface="Aptos" panose="020B0004020202020204" pitchFamily="34" charset="0"/>
              </a:rPr>
              <a:t>Group email: original To list mein maujood kisi ka reply check ho sakta hai. CC ignore hota hai. Reply dekhne ke liye us person ka mailbox bhi monitored hona chahiye.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3BCD3F-40E1-B713-085C-44BB8071E3E4}"/>
              </a:ext>
            </a:extLst>
          </p:cNvPr>
          <p:cNvSpPr txBox="1"/>
          <p:nvPr/>
        </p:nvSpPr>
        <p:spPr>
          <a:xfrm>
            <a:off x="628650" y="4495800"/>
            <a:ext cx="7953375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nn-NO" sz="1200" b="1">
                <a:solidFill>
                  <a:srgbClr val="C94B4B"/>
                </a:solidFill>
                <a:latin typeface="Aptos" panose="020B0004020202020204" pitchFamily="34" charset="0"/>
              </a:rPr>
              <a:t>AI sure na ho ya unavailable ho toh safe side par reminder band nahi hota.</a:t>
            </a:r>
            <a:endParaRPr lang="en-IN" sz="1200" b="1">
              <a:solidFill>
                <a:srgbClr val="C94B4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54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BBEEE0-650F-C033-BEDB-651F9EDD2962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8229A-024F-7CDF-DB2B-E450F593054D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sv-SE" sz="2700" b="1">
                <a:solidFill>
                  <a:srgbClr val="20222B"/>
                </a:solidFill>
                <a:latin typeface="Aptos" panose="020B0004020202020204" pitchFamily="34" charset="0"/>
              </a:rPr>
              <a:t>Dashboard par status ka matlab</a:t>
            </a:r>
            <a:endParaRPr lang="en-IN" sz="2700" b="1">
              <a:solidFill>
                <a:srgbClr val="20222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2AFE3-8439-BBE6-5BF6-10B9E9F67B5C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300">
                <a:solidFill>
                  <a:srgbClr val="6B7280"/>
                </a:solidFill>
                <a:latin typeface="Aptos" panose="020B0004020202020204" pitchFamily="34" charset="0"/>
              </a:rPr>
              <a:t>Status batata hai ki ticket abhi kis state mein hai.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71DB1-1CB6-FC2B-B4BC-484E521A2686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A3A24-9462-5188-DA83-103E9BD51864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26B4D-B90B-E3A9-FC3A-9167F79E814B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CC96D9-E581-9656-EC80-585ABF513832}"/>
              </a:ext>
            </a:extLst>
          </p:cNvPr>
          <p:cNvSpPr/>
          <p:nvPr/>
        </p:nvSpPr>
        <p:spPr>
          <a:xfrm>
            <a:off x="514350" y="1314450"/>
            <a:ext cx="3829050" cy="1333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203DF4-5667-DC05-35CC-D4033FE1D975}"/>
              </a:ext>
            </a:extLst>
          </p:cNvPr>
          <p:cNvSpPr/>
          <p:nvPr/>
        </p:nvSpPr>
        <p:spPr>
          <a:xfrm>
            <a:off x="514350" y="1314450"/>
            <a:ext cx="66675" cy="1333500"/>
          </a:xfrm>
          <a:prstGeom prst="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7E8B5-9D97-C48A-340F-9E55AA019E84}"/>
              </a:ext>
            </a:extLst>
          </p:cNvPr>
          <p:cNvSpPr txBox="1"/>
          <p:nvPr/>
        </p:nvSpPr>
        <p:spPr>
          <a:xfrm>
            <a:off x="704850" y="1466850"/>
            <a:ext cx="34671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OPEN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F0E6A-ACDC-6702-35F3-63456F98996E}"/>
              </a:ext>
            </a:extLst>
          </p:cNvPr>
          <p:cNvSpPr txBox="1"/>
          <p:nvPr/>
        </p:nvSpPr>
        <p:spPr>
          <a:xfrm>
            <a:off x="704850" y="1866900"/>
            <a:ext cx="34671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Kaam pending hai; reminder/SLA follow-up chal sakta hai.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0AFF78-B6EF-3C81-337B-BE7B18E18555}"/>
              </a:ext>
            </a:extLst>
          </p:cNvPr>
          <p:cNvSpPr/>
          <p:nvPr/>
        </p:nvSpPr>
        <p:spPr>
          <a:xfrm>
            <a:off x="4705350" y="1314450"/>
            <a:ext cx="3924300" cy="1333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A7D742-AABA-0E6A-E07B-1387FC856D1F}"/>
              </a:ext>
            </a:extLst>
          </p:cNvPr>
          <p:cNvSpPr/>
          <p:nvPr/>
        </p:nvSpPr>
        <p:spPr>
          <a:xfrm>
            <a:off x="4705350" y="1314450"/>
            <a:ext cx="66675" cy="1333500"/>
          </a:xfrm>
          <a:prstGeom prst="rect">
            <a:avLst/>
          </a:prstGeom>
          <a:solidFill>
            <a:srgbClr val="2684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1FF70-8667-CAF1-305F-F0FB2EE3A2A6}"/>
              </a:ext>
            </a:extLst>
          </p:cNvPr>
          <p:cNvSpPr txBox="1"/>
          <p:nvPr/>
        </p:nvSpPr>
        <p:spPr>
          <a:xfrm>
            <a:off x="4895850" y="146685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REPLIED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39F731-02DB-4BC1-3F9B-D001FC2CCEAD}"/>
              </a:ext>
            </a:extLst>
          </p:cNvPr>
          <p:cNvSpPr txBox="1"/>
          <p:nvPr/>
        </p:nvSpPr>
        <p:spPr>
          <a:xfrm>
            <a:off x="4895850" y="186690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272A33"/>
                </a:solidFill>
                <a:latin typeface="Aptos" panose="020B0004020202020204" pitchFamily="34" charset="0"/>
              </a:rPr>
              <a:t>System ne genuine employee reply ya resolved response record kiya.</a:t>
            </a:r>
            <a:endParaRPr lang="en-IN" sz="13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1542DA-B461-5BB4-0FD9-6279BC6384D2}"/>
              </a:ext>
            </a:extLst>
          </p:cNvPr>
          <p:cNvSpPr/>
          <p:nvPr/>
        </p:nvSpPr>
        <p:spPr>
          <a:xfrm>
            <a:off x="514350" y="2914650"/>
            <a:ext cx="3829050" cy="1333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23E2BD-A1F9-CD78-3ACD-D263E86A5283}"/>
              </a:ext>
            </a:extLst>
          </p:cNvPr>
          <p:cNvSpPr/>
          <p:nvPr/>
        </p:nvSpPr>
        <p:spPr>
          <a:xfrm>
            <a:off x="514350" y="2914650"/>
            <a:ext cx="66675" cy="13335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17BBE-4D82-5926-152A-14C01731F39E}"/>
              </a:ext>
            </a:extLst>
          </p:cNvPr>
          <p:cNvSpPr txBox="1"/>
          <p:nvPr/>
        </p:nvSpPr>
        <p:spPr>
          <a:xfrm>
            <a:off x="704850" y="3067050"/>
            <a:ext cx="34671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CLOSED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BEDF17-E17C-C7B1-4296-644C76BEACA7}"/>
              </a:ext>
            </a:extLst>
          </p:cNvPr>
          <p:cNvSpPr txBox="1"/>
          <p:nvPr/>
        </p:nvSpPr>
        <p:spPr>
          <a:xfrm>
            <a:off x="704850" y="3467100"/>
            <a:ext cx="34671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272A33"/>
                </a:solidFill>
                <a:latin typeface="Aptos" panose="020B0004020202020204" pitchFamily="34" charset="0"/>
              </a:rPr>
              <a:t>Current stage closed hai. Level 2/3 badge bhi check karein; ticket Closed filter mein milega.</a:t>
            </a:r>
            <a:endParaRPr lang="en-IN" sz="13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D4BB2D2-2F99-25A2-0DAF-178E9F239C6B}"/>
              </a:ext>
            </a:extLst>
          </p:cNvPr>
          <p:cNvSpPr/>
          <p:nvPr/>
        </p:nvSpPr>
        <p:spPr>
          <a:xfrm>
            <a:off x="4705350" y="2914650"/>
            <a:ext cx="3924300" cy="1333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68B8A1-B39E-0568-84A4-A26304689B23}"/>
              </a:ext>
            </a:extLst>
          </p:cNvPr>
          <p:cNvSpPr/>
          <p:nvPr/>
        </p:nvSpPr>
        <p:spPr>
          <a:xfrm>
            <a:off x="4705350" y="2914650"/>
            <a:ext cx="66675" cy="1333500"/>
          </a:xfrm>
          <a:prstGeom prst="rect">
            <a:avLst/>
          </a:prstGeom>
          <a:solidFill>
            <a:srgbClr val="C9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333542-886E-1A34-E71C-22762850093E}"/>
              </a:ext>
            </a:extLst>
          </p:cNvPr>
          <p:cNvSpPr txBox="1"/>
          <p:nvPr/>
        </p:nvSpPr>
        <p:spPr>
          <a:xfrm>
            <a:off x="4895850" y="306705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ESCALATED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E1DF9F-3F92-BE27-E097-EC17D407E7E9}"/>
              </a:ext>
            </a:extLst>
          </p:cNvPr>
          <p:cNvSpPr txBox="1"/>
          <p:nvPr/>
        </p:nvSpPr>
        <p:spPr>
          <a:xfrm>
            <a:off x="4895850" y="3467100"/>
            <a:ext cx="35623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272A33"/>
                </a:solidFill>
                <a:latin typeface="Aptos" panose="020B0004020202020204" pitchFamily="34" charset="0"/>
              </a:rPr>
              <a:t>Issue next level par gaya hai. Alert email aur detail page mein level check karein.</a:t>
            </a:r>
          </a:p>
        </p:txBody>
      </p:sp>
    </p:spTree>
    <p:extLst>
      <p:ext uri="{BB962C8B-B14F-4D97-AF65-F5344CB8AC3E}">
        <p14:creationId xmlns:p14="http://schemas.microsoft.com/office/powerpoint/2010/main" val="1671905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AA66A8-AF18-5A70-23AF-CAD2E5539116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BD858-784B-A6B3-BA78-A0874041436F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700" b="1">
                <a:solidFill>
                  <a:srgbClr val="20222B"/>
                </a:solidFill>
                <a:latin typeface="Aptos" panose="020B0004020202020204" pitchFamily="34" charset="0"/>
              </a:rPr>
              <a:t>Dashboard mein kahan dekhein?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02DBF-0743-51D0-06BC-CD992A7FE0D2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fi-FI" sz="1300">
                <a:solidFill>
                  <a:srgbClr val="6B7280"/>
                </a:solidFill>
                <a:latin typeface="Aptos" panose="020B0004020202020204" pitchFamily="34" charset="0"/>
              </a:rPr>
              <a:t>Teen jagah roz ke kaam ke liye kaafi hain.</a:t>
            </a:r>
            <a:endParaRPr lang="en-IN" sz="13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163145-7D2D-940E-8EFA-69670E50B1A1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86215-8683-B292-3400-3ACB5941CB6F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9EA0D-6F8D-4AEE-3E47-DB440D6C1538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8FD431-4C63-F09C-5BB6-DA3159E5F043}"/>
              </a:ext>
            </a:extLst>
          </p:cNvPr>
          <p:cNvSpPr/>
          <p:nvPr/>
        </p:nvSpPr>
        <p:spPr>
          <a:xfrm>
            <a:off x="514350" y="1352550"/>
            <a:ext cx="2457450" cy="2333625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45FD22-94C7-A82B-6B3C-E9FB80B1D528}"/>
              </a:ext>
            </a:extLst>
          </p:cNvPr>
          <p:cNvSpPr/>
          <p:nvPr/>
        </p:nvSpPr>
        <p:spPr>
          <a:xfrm>
            <a:off x="514350" y="1352550"/>
            <a:ext cx="66675" cy="2333625"/>
          </a:xfrm>
          <a:prstGeom prst="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C7326-CC3A-D666-D791-6831404D57F5}"/>
              </a:ext>
            </a:extLst>
          </p:cNvPr>
          <p:cNvSpPr txBox="1"/>
          <p:nvPr/>
        </p:nvSpPr>
        <p:spPr>
          <a:xfrm>
            <a:off x="704850" y="1504950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C914A-6931-8860-A995-7A5296670938}"/>
              </a:ext>
            </a:extLst>
          </p:cNvPr>
          <p:cNvSpPr txBox="1"/>
          <p:nvPr/>
        </p:nvSpPr>
        <p:spPr>
          <a:xfrm>
            <a:off x="704850" y="1905000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272A33"/>
                </a:solidFill>
                <a:latin typeface="Aptos" panose="020B0004020202020204" pitchFamily="34" charset="0"/>
              </a:rPr>
              <a:t>Overall counts, department snapshot aur employee workload. Manager apne department ka overview dekhta hai.</a:t>
            </a:r>
            <a:endParaRPr lang="en-IN" sz="13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568E27-EC4A-C60E-BC5E-10AADEB8A50C}"/>
              </a:ext>
            </a:extLst>
          </p:cNvPr>
          <p:cNvSpPr/>
          <p:nvPr/>
        </p:nvSpPr>
        <p:spPr>
          <a:xfrm>
            <a:off x="3333750" y="1352550"/>
            <a:ext cx="2457450" cy="2333625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F441A7-FF50-649B-D31C-26F21DA3ECC1}"/>
              </a:ext>
            </a:extLst>
          </p:cNvPr>
          <p:cNvSpPr/>
          <p:nvPr/>
        </p:nvSpPr>
        <p:spPr>
          <a:xfrm>
            <a:off x="3333750" y="1352550"/>
            <a:ext cx="66675" cy="23336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64FCB6-7E42-120C-B2BA-B59A6EA1DD9C}"/>
              </a:ext>
            </a:extLst>
          </p:cNvPr>
          <p:cNvSpPr txBox="1"/>
          <p:nvPr/>
        </p:nvSpPr>
        <p:spPr>
          <a:xfrm>
            <a:off x="3524250" y="1504950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Email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F30063-36E3-5F6E-32BF-CCFD5AE2FFC6}"/>
              </a:ext>
            </a:extLst>
          </p:cNvPr>
          <p:cNvSpPr txBox="1"/>
          <p:nvPr/>
        </p:nvSpPr>
        <p:spPr>
          <a:xfrm>
            <a:off x="3524250" y="1905000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272A33"/>
                </a:solidFill>
                <a:latin typeface="Aptos" panose="020B0004020202020204" pitchFamily="34" charset="0"/>
              </a:rPr>
              <a:t>Priority/keyword wali mails. Search, department/status filter aur ticket select karke actions.</a:t>
            </a:r>
            <a:endParaRPr lang="en-IN" sz="13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21C1CB-29BA-ABE2-12F0-689BAA551284}"/>
              </a:ext>
            </a:extLst>
          </p:cNvPr>
          <p:cNvSpPr/>
          <p:nvPr/>
        </p:nvSpPr>
        <p:spPr>
          <a:xfrm>
            <a:off x="6153150" y="1352550"/>
            <a:ext cx="2457450" cy="2333625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2053C3-8E85-CB6F-D5F8-50653A3D7B98}"/>
              </a:ext>
            </a:extLst>
          </p:cNvPr>
          <p:cNvSpPr/>
          <p:nvPr/>
        </p:nvSpPr>
        <p:spPr>
          <a:xfrm>
            <a:off x="6153150" y="1352550"/>
            <a:ext cx="66675" cy="2333625"/>
          </a:xfrm>
          <a:prstGeom prst="rect">
            <a:avLst/>
          </a:prstGeom>
          <a:solidFill>
            <a:srgbClr val="2684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DDC00-0581-9965-000D-91010E844730}"/>
              </a:ext>
            </a:extLst>
          </p:cNvPr>
          <p:cNvSpPr txBox="1"/>
          <p:nvPr/>
        </p:nvSpPr>
        <p:spPr>
          <a:xfrm>
            <a:off x="6343650" y="1504950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Email detail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4E2CEE-35AD-0BEE-E9B0-CE880A525014}"/>
              </a:ext>
            </a:extLst>
          </p:cNvPr>
          <p:cNvSpPr txBox="1"/>
          <p:nvPr/>
        </p:nvSpPr>
        <p:spPr>
          <a:xfrm>
            <a:off x="6343650" y="1905000"/>
            <a:ext cx="20955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272A33"/>
                </a:solidFill>
                <a:latin typeface="Aptos" panose="020B0004020202020204" pitchFamily="34" charset="0"/>
              </a:rPr>
              <a:t>Original mail, assigned employee, SLA/reminder time, notification controls aur timeline.</a:t>
            </a:r>
            <a:endParaRPr lang="en-IN" sz="13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659CE0-2F22-A53B-44FB-D0282343D7C6}"/>
              </a:ext>
            </a:extLst>
          </p:cNvPr>
          <p:cNvSpPr txBox="1"/>
          <p:nvPr/>
        </p:nvSpPr>
        <p:spPr>
          <a:xfrm>
            <a:off x="628650" y="4000500"/>
            <a:ext cx="8001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500" b="1">
                <a:solidFill>
                  <a:srgbClr val="20222B"/>
                </a:solidFill>
                <a:latin typeface="Aptos" panose="020B0004020202020204" pitchFamily="34" charset="0"/>
              </a:rPr>
              <a:t>Ticket kholne ke liye subject/row par click karein; Open, Replied, Closed filters se list narrow karein.</a:t>
            </a:r>
          </a:p>
        </p:txBody>
      </p:sp>
    </p:spTree>
    <p:extLst>
      <p:ext uri="{BB962C8B-B14F-4D97-AF65-F5344CB8AC3E}">
        <p14:creationId xmlns:p14="http://schemas.microsoft.com/office/powerpoint/2010/main" val="3276569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D6C65F-8996-02DE-7637-A0B61AFC4C72}"/>
              </a:ext>
            </a:extLst>
          </p:cNvPr>
          <p:cNvSpPr/>
          <p:nvPr/>
        </p:nvSpPr>
        <p:spPr>
          <a:xfrm>
            <a:off x="0" y="0"/>
            <a:ext cx="9144000" cy="85725"/>
          </a:xfrm>
          <a:prstGeom prst="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BACD4-1317-7D1C-17BA-4B831732D347}"/>
              </a:ext>
            </a:extLst>
          </p:cNvPr>
          <p:cNvSpPr txBox="1"/>
          <p:nvPr/>
        </p:nvSpPr>
        <p:spPr>
          <a:xfrm>
            <a:off x="495300" y="28575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700" b="1">
                <a:solidFill>
                  <a:srgbClr val="20222B"/>
                </a:solidFill>
                <a:latin typeface="Aptos" panose="020B0004020202020204" pitchFamily="34" charset="0"/>
              </a:rPr>
              <a:t>Chhota example: aaj aapko kya karna hai?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CA855-F429-D8A7-2453-1D3F1A75A526}"/>
              </a:ext>
            </a:extLst>
          </p:cNvPr>
          <p:cNvSpPr txBox="1"/>
          <p:nvPr/>
        </p:nvSpPr>
        <p:spPr>
          <a:xfrm>
            <a:off x="514350" y="723900"/>
            <a:ext cx="80962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6B7280"/>
                </a:solidFill>
                <a:latin typeface="Aptos" panose="020B0004020202020204" pitchFamily="34" charset="0"/>
              </a:rPr>
              <a:t>Sochiye ek important order-related mail aapko assign hui.</a:t>
            </a:r>
            <a:endParaRPr lang="en-IN" sz="1300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EF52E8-CEE6-E615-EB28-ADCB312AA515}"/>
              </a:ext>
            </a:extLst>
          </p:cNvPr>
          <p:cNvSpPr/>
          <p:nvPr/>
        </p:nvSpPr>
        <p:spPr>
          <a:xfrm>
            <a:off x="495300" y="4800600"/>
            <a:ext cx="8153400" cy="9525"/>
          </a:xfrm>
          <a:prstGeom prst="rect">
            <a:avLst/>
          </a:prstGeom>
          <a:solidFill>
            <a:srgbClr val="E3E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34F89-A3D2-B54C-D075-C50C4C548A04}"/>
              </a:ext>
            </a:extLst>
          </p:cNvPr>
          <p:cNvSpPr txBox="1"/>
          <p:nvPr/>
        </p:nvSpPr>
        <p:spPr>
          <a:xfrm>
            <a:off x="514350" y="4867275"/>
            <a:ext cx="6858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B7280"/>
                </a:solidFill>
                <a:latin typeface="Aptos" panose="020B0004020202020204" pitchFamily="34" charset="0"/>
              </a:rPr>
              <a:t>ESCALATION TRACKER  |  NEW EMPLOYEE GUIDE</a:t>
            </a:r>
            <a:endParaRPr lang="en-IN" sz="900" b="1">
              <a:solidFill>
                <a:srgbClr val="6B728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9062E-82A2-54C4-D86B-3FC6BBE5FB76}"/>
              </a:ext>
            </a:extLst>
          </p:cNvPr>
          <p:cNvSpPr txBox="1"/>
          <p:nvPr/>
        </p:nvSpPr>
        <p:spPr>
          <a:xfrm>
            <a:off x="8286750" y="4848225"/>
            <a:ext cx="361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6B728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23FC56-0C78-342E-C09F-DBC9971AC443}"/>
              </a:ext>
            </a:extLst>
          </p:cNvPr>
          <p:cNvSpPr/>
          <p:nvPr/>
        </p:nvSpPr>
        <p:spPr>
          <a:xfrm>
            <a:off x="514350" y="1295400"/>
            <a:ext cx="8115300" cy="272415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C93DD5-03D3-5246-17D7-BB8308B84DC8}"/>
              </a:ext>
            </a:extLst>
          </p:cNvPr>
          <p:cNvSpPr/>
          <p:nvPr/>
        </p:nvSpPr>
        <p:spPr>
          <a:xfrm>
            <a:off x="762000" y="1600200"/>
            <a:ext cx="95250" cy="95250"/>
          </a:xfrm>
          <a:prstGeom prst="roundRect">
            <a:avLst/>
          </a:prstGeom>
          <a:solidFill>
            <a:srgbClr val="3478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51336A-8814-90CA-9765-2BE3A99CA2CC}"/>
              </a:ext>
            </a:extLst>
          </p:cNvPr>
          <p:cNvSpPr txBox="1"/>
          <p:nvPr/>
        </p:nvSpPr>
        <p:spPr>
          <a:xfrm>
            <a:off x="971550" y="1524000"/>
            <a:ext cx="7219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72A33"/>
                </a:solidFill>
                <a:latin typeface="Aptos" panose="020B0004020202020204" pitchFamily="34" charset="0"/>
              </a:rPr>
              <a:t>Dashboard par Open ticket dikha - subject aur due time check karein.</a:t>
            </a:r>
            <a:endParaRPr lang="en-IN" sz="15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F0B0CC-7C86-7B86-25C8-0BA860688664}"/>
              </a:ext>
            </a:extLst>
          </p:cNvPr>
          <p:cNvSpPr/>
          <p:nvPr/>
        </p:nvSpPr>
        <p:spPr>
          <a:xfrm>
            <a:off x="762000" y="2085975"/>
            <a:ext cx="95250" cy="95250"/>
          </a:xfrm>
          <a:prstGeom prst="roundRect">
            <a:avLst/>
          </a:prstGeom>
          <a:solidFill>
            <a:srgbClr val="F05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537A8-85E2-94C3-C85E-56B107237ABF}"/>
              </a:ext>
            </a:extLst>
          </p:cNvPr>
          <p:cNvSpPr txBox="1"/>
          <p:nvPr/>
        </p:nvSpPr>
        <p:spPr>
          <a:xfrm>
            <a:off x="971550" y="2009775"/>
            <a:ext cx="7219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272A33"/>
                </a:solidFill>
                <a:latin typeface="Aptos" panose="020B0004020202020204" pitchFamily="34" charset="0"/>
              </a:rPr>
              <a:t>Original conversation padhein; customer ko apne monitored mailbox se jawab dein.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155760-21EA-9069-569C-064A595AA48A}"/>
              </a:ext>
            </a:extLst>
          </p:cNvPr>
          <p:cNvSpPr/>
          <p:nvPr/>
        </p:nvSpPr>
        <p:spPr>
          <a:xfrm>
            <a:off x="762000" y="2571750"/>
            <a:ext cx="95250" cy="95250"/>
          </a:xfrm>
          <a:prstGeom prst="roundRect">
            <a:avLst/>
          </a:prstGeom>
          <a:solidFill>
            <a:srgbClr val="2684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19CABD-BA07-2695-C6FB-652ED73B44F5}"/>
              </a:ext>
            </a:extLst>
          </p:cNvPr>
          <p:cNvSpPr txBox="1"/>
          <p:nvPr/>
        </p:nvSpPr>
        <p:spPr>
          <a:xfrm>
            <a:off x="971550" y="2495550"/>
            <a:ext cx="7219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272A33"/>
                </a:solidFill>
                <a:latin typeface="Aptos" panose="020B0004020202020204" pitchFamily="34" charset="0"/>
              </a:rPr>
              <a:t>System reply ko dekhega. Client ne issue solve confirm kiya toh reminders band ho sakte hain.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661BFD-7210-E14A-91AB-A64937DB7082}"/>
              </a:ext>
            </a:extLst>
          </p:cNvPr>
          <p:cNvSpPr/>
          <p:nvPr/>
        </p:nvSpPr>
        <p:spPr>
          <a:xfrm>
            <a:off x="762000" y="3057525"/>
            <a:ext cx="95250" cy="95250"/>
          </a:xfrm>
          <a:prstGeom prst="roundRect">
            <a:avLst/>
          </a:prstGeom>
          <a:solidFill>
            <a:srgbClr val="C9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66D06A-B7FA-A48A-C225-0C1F19D35053}"/>
              </a:ext>
            </a:extLst>
          </p:cNvPr>
          <p:cNvSpPr txBox="1"/>
          <p:nvPr/>
        </p:nvSpPr>
        <p:spPr>
          <a:xfrm>
            <a:off x="971550" y="2981325"/>
            <a:ext cx="7219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272A33"/>
                </a:solidFill>
                <a:latin typeface="Aptos" panose="020B0004020202020204" pitchFamily="34" charset="0"/>
              </a:rPr>
              <a:t>Client ko abhi bhi problem ho ya reply clear na ho, ticket pending rahega; follow-up jaari rahega.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433937-473D-51CD-2255-84B61994ECA8}"/>
              </a:ext>
            </a:extLst>
          </p:cNvPr>
          <p:cNvSpPr/>
          <p:nvPr/>
        </p:nvSpPr>
        <p:spPr>
          <a:xfrm>
            <a:off x="762000" y="3543300"/>
            <a:ext cx="95250" cy="95250"/>
          </a:xfrm>
          <a:prstGeom prst="roundRect">
            <a:avLst/>
          </a:prstGeom>
          <a:solidFill>
            <a:srgbClr val="D89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006FE0-021D-891F-278E-C18AE752E5F1}"/>
              </a:ext>
            </a:extLst>
          </p:cNvPr>
          <p:cNvSpPr txBox="1"/>
          <p:nvPr/>
        </p:nvSpPr>
        <p:spPr>
          <a:xfrm>
            <a:off x="971550" y="3467100"/>
            <a:ext cx="721995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72A33"/>
                </a:solidFill>
                <a:latin typeface="Aptos" panose="020B0004020202020204" pitchFamily="34" charset="0"/>
              </a:rPr>
              <a:t>SLA cross ho aur ticket escalation-eligible ho, toh Manager/HOD ko alert jayega.</a:t>
            </a:r>
            <a:endParaRPr lang="en-IN" sz="1500">
              <a:solidFill>
                <a:srgbClr val="272A33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A255D9-1CE3-6350-C746-7E33979C3108}"/>
              </a:ext>
            </a:extLst>
          </p:cNvPr>
          <p:cNvSpPr txBox="1"/>
          <p:nvPr/>
        </p:nvSpPr>
        <p:spPr>
          <a:xfrm>
            <a:off x="628650" y="4276725"/>
            <a:ext cx="8001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600" b="1">
                <a:solidFill>
                  <a:srgbClr val="20222B"/>
                </a:solidFill>
                <a:latin typeface="Aptos" panose="020B0004020202020204" pitchFamily="34" charset="0"/>
              </a:rPr>
              <a:t>Golden rule: reply bhejne ke baad dashboard par ticket status zaroor verify karein.</a:t>
            </a:r>
          </a:p>
        </p:txBody>
      </p:sp>
    </p:spTree>
    <p:extLst>
      <p:ext uri="{BB962C8B-B14F-4D97-AF65-F5344CB8AC3E}">
        <p14:creationId xmlns:p14="http://schemas.microsoft.com/office/powerpoint/2010/main" val="1333426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On-screen Show (16:10)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Kartikey Bhardwaj I AFC</dc:creator>
  <cp:lastModifiedBy>Kartikey Bhardwaj I AFC</cp:lastModifiedBy>
  <cp:revision>1</cp:revision>
  <dcterms:created xsi:type="dcterms:W3CDTF">2026-10-15T12:27:04Z</dcterms:created>
  <dcterms:modified xsi:type="dcterms:W3CDTF">2026-10-15T12:27:44Z</dcterms:modified>
</cp:coreProperties>
</file>